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71" r:id="rId10"/>
    <p:sldId id="27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>
          <p15:clr>
            <a:srgbClr val="A4A3A4"/>
          </p15:clr>
        </p15:guide>
        <p15:guide id="2" pos="38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>
        <p:guide orient="horz" pos="2155"/>
        <p:guide pos="38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8T03:32:12.7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0,'8118'115'0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8T03:34:25.2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8T03:34:25.8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8T03:34:31.0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8T03:34:31.8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30,'0'-5,"0"-6,0-2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71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933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39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0.png"/><Relationship Id="rId7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11.png"/><Relationship Id="rId4" Type="http://schemas.openxmlformats.org/officeDocument/2006/relationships/customXml" Target="../ink/ink2.xml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629742" y="2014398"/>
            <a:ext cx="10932516" cy="25686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altLang="ko-KR" sz="3700" b="1" dirty="0">
                <a:solidFill>
                  <a:srgbClr val="102033"/>
                </a:solidFill>
                <a:latin typeface="Noto Sans CJK KR"/>
                <a:ea typeface="Noto Sans CJK KR"/>
                <a:cs typeface="Noto Sans CJK KR"/>
              </a:rPr>
              <a:t>xv6 memory, schedule improvement agent</a:t>
            </a:r>
          </a:p>
        </p:txBody>
      </p:sp>
      <p:sp>
        <p:nvSpPr>
          <p:cNvPr id="5" name="가로 글상자 4"/>
          <p:cNvSpPr txBox="1"/>
          <p:nvPr/>
        </p:nvSpPr>
        <p:spPr>
          <a:xfrm>
            <a:off x="9207403" y="4843602"/>
            <a:ext cx="2984597" cy="2014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en-US" altLang="ko-KR" b="1"/>
              <a:t>Team OS_JPLKJ</a:t>
            </a:r>
            <a:endParaRPr lang="en-US" altLang="ko-KR"/>
          </a:p>
          <a:p>
            <a:pPr lvl="0" algn="r">
              <a:defRPr/>
            </a:pPr>
            <a:endParaRPr lang="en-US" altLang="ko-KR"/>
          </a:p>
          <a:p>
            <a:pPr lvl="0" algn="r">
              <a:defRPr/>
            </a:pPr>
            <a:r>
              <a:rPr lang="en-US" altLang="ko-KR"/>
              <a:t>2022270638_</a:t>
            </a:r>
            <a:r>
              <a:rPr lang="ko-KR" altLang="en-US"/>
              <a:t>조현성</a:t>
            </a:r>
          </a:p>
          <a:p>
            <a:pPr lvl="0" algn="r">
              <a:defRPr/>
            </a:pPr>
            <a:r>
              <a:rPr lang="en-US" altLang="ko-KR"/>
              <a:t>2022270654_</a:t>
            </a:r>
            <a:r>
              <a:rPr lang="ko-KR" altLang="en-US"/>
              <a:t>박규태</a:t>
            </a:r>
          </a:p>
          <a:p>
            <a:pPr lvl="0" algn="r">
              <a:defRPr/>
            </a:pPr>
            <a:r>
              <a:rPr lang="en-US" altLang="ko-KR"/>
              <a:t>2021270603_</a:t>
            </a:r>
            <a:r>
              <a:rPr lang="ko-KR" altLang="en-US"/>
              <a:t>이찬주</a:t>
            </a:r>
          </a:p>
          <a:p>
            <a:pPr lvl="0" algn="r">
              <a:defRPr/>
            </a:pPr>
            <a:r>
              <a:rPr lang="en-US" altLang="ko-KR"/>
              <a:t>2022270656_</a:t>
            </a:r>
            <a:r>
              <a:rPr lang="ko-KR" altLang="en-US"/>
              <a:t>김경선</a:t>
            </a:r>
          </a:p>
          <a:p>
            <a:pPr lvl="0" algn="r">
              <a:defRPr/>
            </a:pPr>
            <a:r>
              <a:rPr lang="en-US" altLang="ko-KR"/>
              <a:t>2022270620_</a:t>
            </a:r>
            <a:r>
              <a:rPr lang="ko-KR" altLang="en-US"/>
              <a:t>조승찬</a:t>
            </a:r>
          </a:p>
        </p:txBody>
      </p:sp>
    </p:spTree>
    <p:extLst>
      <p:ext uri="{BB962C8B-B14F-4D97-AF65-F5344CB8AC3E}">
        <p14:creationId xmlns:p14="http://schemas.microsoft.com/office/powerpoint/2010/main" val="1140812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6390"/>
          <a:stretch>
            <a:fillRect/>
          </a:stretch>
        </p:blipFill>
        <p:spPr>
          <a:xfrm>
            <a:off x="1524001" y="438150"/>
            <a:ext cx="9143999" cy="6419850"/>
          </a:xfrm>
          <a:prstGeom prst="rect">
            <a:avLst/>
          </a:prstGeom>
        </p:spPr>
      </p:pic>
      <p:sp>
        <p:nvSpPr>
          <p:cNvPr id="5" name="가로 글상자 4"/>
          <p:cNvSpPr txBox="1"/>
          <p:nvPr/>
        </p:nvSpPr>
        <p:spPr>
          <a:xfrm>
            <a:off x="-28575" y="73127"/>
            <a:ext cx="6096000" cy="487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600" b="1">
                <a:solidFill>
                  <a:srgbClr val="1E1E1E"/>
                </a:solidFill>
                <a:latin typeface="맑은 고딕"/>
              </a:rPr>
              <a:t>Integrated </a:t>
            </a:r>
            <a:r>
              <a:rPr sz="2600" b="1">
                <a:solidFill>
                  <a:srgbClr val="1E1E1E"/>
                </a:solidFill>
                <a:latin typeface="맑은 고딕"/>
              </a:rPr>
              <a:t>Core Agent Logic Flow</a:t>
            </a:r>
          </a:p>
        </p:txBody>
      </p:sp>
    </p:spTree>
    <p:extLst>
      <p:ext uri="{BB962C8B-B14F-4D97-AF65-F5344CB8AC3E}">
        <p14:creationId xmlns:p14="http://schemas.microsoft.com/office/powerpoint/2010/main" val="2744969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34"/>
          <p:cNvCxnSpPr>
            <a:endCxn id="16" idx="2"/>
          </p:cNvCxnSpPr>
          <p:nvPr/>
        </p:nvCxnSpPr>
        <p:spPr>
          <a:xfrm rot="16200000">
            <a:off x="1118900" y="4420266"/>
            <a:ext cx="1282639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39"/>
          <p:cNvCxnSpPr/>
          <p:nvPr/>
        </p:nvCxnSpPr>
        <p:spPr>
          <a:xfrm rot="16200000">
            <a:off x="3519385" y="3251529"/>
            <a:ext cx="5221809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2"/>
          <p:cNvCxnSpPr>
            <a:stCxn id="31" idx="1"/>
            <a:endCxn id="15" idx="3"/>
          </p:cNvCxnSpPr>
          <p:nvPr/>
        </p:nvCxnSpPr>
        <p:spPr>
          <a:xfrm rot="5400000">
            <a:off x="2681849" y="2647693"/>
            <a:ext cx="2520576" cy="1910196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36"/>
          <p:cNvCxnSpPr>
            <a:stCxn id="16" idx="0"/>
          </p:cNvCxnSpPr>
          <p:nvPr/>
        </p:nvCxnSpPr>
        <p:spPr>
          <a:xfrm rot="16200000">
            <a:off x="910114" y="2151601"/>
            <a:ext cx="170021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1"/>
          <p:cNvSpPr txBox="1"/>
          <p:nvPr/>
        </p:nvSpPr>
        <p:spPr>
          <a:xfrm>
            <a:off x="211665" y="68580"/>
            <a:ext cx="5477183" cy="4914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sz="2600" b="1">
                <a:solidFill>
                  <a:srgbClr val="1E1E1E"/>
                </a:solidFill>
                <a:latin typeface="맑은 고딕"/>
              </a:rPr>
              <a:t>Core Agent Logic Flow</a:t>
            </a:r>
            <a:r>
              <a:rPr lang="en-US" altLang="ko-KR" sz="2600" b="1">
                <a:solidFill>
                  <a:srgbClr val="1E1E1E"/>
                </a:solidFill>
                <a:latin typeface="맑은 고딕"/>
              </a:rPr>
              <a:t>/memory</a:t>
            </a:r>
          </a:p>
        </p:txBody>
      </p:sp>
      <p:sp>
        <p:nvSpPr>
          <p:cNvPr id="7" name="Rounded Rectangle 4"/>
          <p:cNvSpPr/>
          <p:nvPr/>
        </p:nvSpPr>
        <p:spPr>
          <a:xfrm>
            <a:off x="3764280" y="590726"/>
            <a:ext cx="4663440" cy="353500"/>
          </a:xfrm>
          <a:prstGeom prst="roundRect">
            <a:avLst>
              <a:gd name="adj" fmla="val 16667"/>
            </a:avLst>
          </a:prstGeom>
          <a:solidFill>
            <a:srgbClr val="DCEBFF"/>
          </a:solidFill>
          <a:ln w="21590">
            <a:solidFill>
              <a:srgbClr val="38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anchor="ctr"/>
          <a:lstStyle/>
          <a:p>
            <a:pPr marL="0" lvl="0" indent="0" algn="ctr">
              <a:buNone/>
              <a:defRPr/>
            </a:pPr>
            <a:r>
              <a:rPr lang="en-US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Observe + Bridge detection</a:t>
            </a:r>
            <a:endParaRPr lang="en-US" altLang="ko-KR" sz="1800" b="1">
              <a:solidFill>
                <a:srgbClr val="1E1E1E"/>
              </a:solidFill>
              <a:latin typeface="맑은 고딕"/>
            </a:endParaRPr>
          </a:p>
        </p:txBody>
      </p:sp>
      <p:sp>
        <p:nvSpPr>
          <p:cNvPr id="8" name="Rounded Rectangle 5"/>
          <p:cNvSpPr/>
          <p:nvPr/>
        </p:nvSpPr>
        <p:spPr>
          <a:xfrm>
            <a:off x="3764280" y="1052988"/>
            <a:ext cx="4663440" cy="380455"/>
          </a:xfrm>
          <a:prstGeom prst="roundRect">
            <a:avLst>
              <a:gd name="adj" fmla="val 16667"/>
            </a:avLst>
          </a:prstGeom>
          <a:solidFill>
            <a:srgbClr val="E1F5E4"/>
          </a:solidFill>
          <a:ln w="21590">
            <a:solidFill>
              <a:srgbClr val="42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anchor="ctr"/>
          <a:lstStyle/>
          <a:p>
            <a:pPr marL="0" lvl="0" indent="0" algn="ctr">
              <a:buNone/>
              <a:defRPr/>
            </a:pPr>
            <a:r>
              <a:rPr lang="en-US"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LLM analysis + one concrete candidate</a:t>
            </a:r>
          </a:p>
          <a:p>
            <a:pPr marL="0" lvl="0" indent="0" algn="ctr">
              <a:buNone/>
              <a:defRPr/>
            </a:pPr>
            <a:r>
              <a:rPr lang="en-US"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(action / target / value)</a:t>
            </a:r>
            <a:endParaRPr lang="ko-KR" altLang="en-US" sz="1600" b="1">
              <a:solidFill>
                <a:srgbClr val="1E1E1E"/>
              </a:solidFill>
              <a:latin typeface="맑은 고딕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764280" y="2747498"/>
            <a:ext cx="4663440" cy="365462"/>
          </a:xfrm>
          <a:prstGeom prst="roundRect">
            <a:avLst>
              <a:gd name="adj" fmla="val 16667"/>
            </a:avLst>
          </a:prstGeom>
          <a:solidFill>
            <a:srgbClr val="DCEBFF"/>
          </a:solidFill>
          <a:ln w="21590">
            <a:solidFill>
              <a:srgbClr val="386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anchor="ctr"/>
          <a:lstStyle/>
          <a:p>
            <a:pPr marL="0" lvl="0" indent="0" algn="ctr">
              <a:buNone/>
              <a:defRPr/>
            </a:pPr>
            <a:r>
              <a:rPr lang="en-US" altLang="ko-KR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</a:t>
            </a:r>
            <a:r>
              <a:rPr lang="en-US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. Approve → apply in xv6 runtime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64280" y="3195256"/>
            <a:ext cx="4663440" cy="357568"/>
          </a:xfrm>
          <a:prstGeom prst="roundRect">
            <a:avLst>
              <a:gd name="adj" fmla="val 16667"/>
            </a:avLst>
          </a:prstGeom>
          <a:solidFill>
            <a:srgbClr val="FFEDD6"/>
          </a:solidFill>
          <a:ln w="21590">
            <a:solidFill>
              <a:srgbClr val="D78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anchor="ctr"/>
          <a:lstStyle/>
          <a:p>
            <a:pPr marL="0" lvl="0" indent="0" algn="ctr">
              <a:buNone/>
              <a:defRPr/>
            </a:pPr>
            <a:r>
              <a:rPr lang="en-US" altLang="ko-KR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</a:t>
            </a:r>
            <a:r>
              <a:rPr lang="en-US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. Hard Verifier post-check</a:t>
            </a:r>
          </a:p>
        </p:txBody>
      </p:sp>
      <p:sp>
        <p:nvSpPr>
          <p:cNvPr id="11" name="Diamond 10"/>
          <p:cNvSpPr/>
          <p:nvPr/>
        </p:nvSpPr>
        <p:spPr>
          <a:xfrm>
            <a:off x="4897236" y="3693508"/>
            <a:ext cx="2397528" cy="563689"/>
          </a:xfrm>
          <a:prstGeom prst="diamond">
            <a:avLst/>
          </a:prstGeom>
          <a:solidFill>
            <a:srgbClr val="FFEDD6"/>
          </a:solidFill>
          <a:ln w="21590">
            <a:solidFill>
              <a:srgbClr val="D78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Safety</a:t>
            </a:r>
          </a:p>
          <a:p>
            <a:pPr marL="0" lvl="0" indent="0" algn="ctr">
              <a:buNone/>
              <a:defRPr/>
            </a:pPr>
            <a:r>
              <a:rPr lang="en-US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passed?</a:t>
            </a:r>
            <a:endParaRPr sz="1800" b="1" dirty="0">
              <a:solidFill>
                <a:srgbClr val="1E1E1E"/>
              </a:solidFill>
              <a:latin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64280" y="4387596"/>
            <a:ext cx="4663440" cy="502920"/>
          </a:xfrm>
          <a:prstGeom prst="roundRect">
            <a:avLst>
              <a:gd name="adj" fmla="val 16667"/>
            </a:avLst>
          </a:prstGeom>
          <a:solidFill>
            <a:srgbClr val="E0F4F6"/>
          </a:solidFill>
          <a:ln w="21590">
            <a:solidFill>
              <a:srgbClr val="227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anchor="ctr"/>
          <a:lstStyle/>
          <a:p>
            <a:pPr marL="0" lvl="0" indent="0" algn="ctr">
              <a:buNone/>
              <a:defRPr/>
            </a:pPr>
            <a:r>
              <a:rPr lang="en-US" altLang="ko-KR"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</a:t>
            </a:r>
            <a:r>
              <a:rPr lang="en-US"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. Policy-specific evaluation</a:t>
            </a:r>
          </a:p>
          <a:p>
            <a:pPr marL="0" lvl="0" indent="0" algn="ctr">
              <a:buNone/>
              <a:defRPr/>
            </a:pPr>
            <a:r>
              <a:rPr lang="en-US"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quota: weighted score / swap: stability</a:t>
            </a:r>
            <a:endParaRPr sz="1600" b="1">
              <a:solidFill>
                <a:srgbClr val="1E1E1E"/>
              </a:solidFill>
              <a:latin typeface="맑은 고딕"/>
            </a:endParaRPr>
          </a:p>
        </p:txBody>
      </p:sp>
      <p:sp>
        <p:nvSpPr>
          <p:cNvPr id="13" name="Diamond 12"/>
          <p:cNvSpPr/>
          <p:nvPr/>
        </p:nvSpPr>
        <p:spPr>
          <a:xfrm>
            <a:off x="5044439" y="4989004"/>
            <a:ext cx="2166257" cy="616077"/>
          </a:xfrm>
          <a:prstGeom prst="diamond">
            <a:avLst/>
          </a:prstGeom>
          <a:solidFill>
            <a:srgbClr val="FFEDD6"/>
          </a:solidFill>
          <a:ln w="21590">
            <a:solidFill>
              <a:srgbClr val="D78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r>
              <a:rPr lang="ko-KR" altLang="ko-KR" b="1" dirty="0" err="1">
                <a:solidFill>
                  <a:schemeClr val="tx1"/>
                </a:solidFill>
              </a:rPr>
              <a:t>Criteria</a:t>
            </a:r>
            <a:r>
              <a:rPr lang="ko-KR" altLang="ko-KR" b="1" dirty="0">
                <a:solidFill>
                  <a:schemeClr val="tx1"/>
                </a:solidFill>
              </a:rPr>
              <a:t> </a:t>
            </a:r>
            <a:r>
              <a:rPr lang="ko-KR" altLang="ko-KR" b="1" dirty="0" err="1">
                <a:solidFill>
                  <a:schemeClr val="tx1"/>
                </a:solidFill>
              </a:rPr>
              <a:t>satisfied</a:t>
            </a:r>
            <a:r>
              <a:rPr sz="1800" b="1" dirty="0">
                <a:solidFill>
                  <a:schemeClr val="tx1"/>
                </a:solidFill>
                <a:latin typeface="맑은 고딕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30980" y="5691854"/>
            <a:ext cx="4297680" cy="594863"/>
          </a:xfrm>
          <a:prstGeom prst="roundRect">
            <a:avLst>
              <a:gd name="adj" fmla="val 16667"/>
            </a:avLst>
          </a:prstGeom>
          <a:solidFill>
            <a:srgbClr val="E9E3FA"/>
          </a:solidFill>
          <a:ln w="21590">
            <a:solidFill>
              <a:srgbClr val="6A4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anchor="ctr"/>
          <a:lstStyle/>
          <a:p>
            <a:pPr marL="0" lvl="0" indent="0" algn="ctr">
              <a:buNone/>
              <a:defRPr/>
            </a:pPr>
            <a:r>
              <a:rPr lang="en-US"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8. Keep policy + return to monitoring</a:t>
            </a:r>
            <a:endParaRPr sz="2000" b="1">
              <a:solidFill>
                <a:srgbClr val="1E1E1E"/>
              </a:solidFill>
              <a:latin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72439" y="4543040"/>
            <a:ext cx="2514600" cy="640080"/>
          </a:xfrm>
          <a:prstGeom prst="roundRect">
            <a:avLst>
              <a:gd name="adj" fmla="val 16667"/>
            </a:avLst>
          </a:prstGeom>
          <a:solidFill>
            <a:srgbClr val="FFE1E1"/>
          </a:solidFill>
          <a:ln w="21590">
            <a:solidFill>
              <a:srgbClr val="BA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anchor="ctr"/>
          <a:lstStyle/>
          <a:p>
            <a:pPr marL="0" lvl="0" indent="0" algn="ctr">
              <a:buNone/>
              <a:defRPr/>
            </a:pPr>
            <a:r>
              <a:rPr lang="en-US"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Rollback</a:t>
            </a:r>
          </a:p>
          <a:p>
            <a:pPr marL="0" lvl="0" indent="0" algn="ctr">
              <a:buNone/>
              <a:defRPr/>
            </a:pPr>
            <a:r>
              <a:rPr lang="en-US"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restore previous state</a:t>
            </a:r>
            <a:endParaRPr sz="1600" b="1">
              <a:solidFill>
                <a:srgbClr val="1E1E1E"/>
              </a:solidFill>
              <a:latin typeface="맑은 고딕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19" y="3001706"/>
            <a:ext cx="2514600" cy="777240"/>
          </a:xfrm>
          <a:prstGeom prst="roundRect">
            <a:avLst>
              <a:gd name="adj" fmla="val 16667"/>
            </a:avLst>
          </a:prstGeom>
          <a:solidFill>
            <a:srgbClr val="FFE1E1"/>
          </a:solidFill>
          <a:ln w="21590">
            <a:solidFill>
              <a:srgbClr val="BA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Record failure tag</a:t>
            </a: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feed it into the next prompt</a:t>
            </a:r>
            <a:endParaRPr sz="1500" b="1">
              <a:solidFill>
                <a:srgbClr val="1E1E1E"/>
              </a:solidFill>
              <a:latin typeface="맑은 고딕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1597532"/>
            <a:ext cx="2514600" cy="640080"/>
          </a:xfrm>
          <a:prstGeom prst="roundRect">
            <a:avLst>
              <a:gd name="adj" fmla="val 16667"/>
            </a:avLst>
          </a:prstGeom>
          <a:solidFill>
            <a:srgbClr val="FFE1E1"/>
          </a:solidFill>
          <a:ln w="21590">
            <a:solidFill>
              <a:srgbClr val="BA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anchor="ctr"/>
          <a:lstStyle/>
          <a:p>
            <a:pPr marL="0" lvl="0" indent="0" algn="ctr">
              <a:buNone/>
              <a:defRPr/>
            </a:pPr>
            <a:r>
              <a:rPr lang="en-US"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Reject before apply</a:t>
            </a:r>
          </a:p>
          <a:p>
            <a:pPr marL="0" lvl="0" indent="0" algn="ctr">
              <a:buNone/>
              <a:defRPr/>
            </a:pPr>
            <a:r>
              <a:rPr lang="en-US" sz="1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 rollback needed</a:t>
            </a:r>
            <a:endParaRPr sz="1600" b="1">
              <a:solidFill>
                <a:srgbClr val="1E1E1E"/>
              </a:solidFill>
              <a:latin typeface="맑은 고딕"/>
            </a:endParaRPr>
          </a:p>
        </p:txBody>
      </p:sp>
      <p:sp>
        <p:nvSpPr>
          <p:cNvPr id="18" name="TextBox 28"/>
          <p:cNvSpPr txBox="1"/>
          <p:nvPr/>
        </p:nvSpPr>
        <p:spPr>
          <a:xfrm>
            <a:off x="4552950" y="3811905"/>
            <a:ext cx="411480" cy="272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sz="1200" b="1">
                <a:solidFill>
                  <a:srgbClr val="5A5A5A"/>
                </a:solidFill>
                <a:latin typeface="맑은 고딕"/>
              </a:rPr>
              <a:t>No</a:t>
            </a:r>
          </a:p>
        </p:txBody>
      </p:sp>
      <p:sp>
        <p:nvSpPr>
          <p:cNvPr id="19" name="TextBox 29"/>
          <p:cNvSpPr txBox="1"/>
          <p:nvPr/>
        </p:nvSpPr>
        <p:spPr>
          <a:xfrm>
            <a:off x="6297725" y="4145280"/>
            <a:ext cx="565109" cy="272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sz="1200" b="1">
                <a:solidFill>
                  <a:srgbClr val="5A5A5A"/>
                </a:solidFill>
                <a:latin typeface="맑은 고딕"/>
              </a:rPr>
              <a:t>Yes</a:t>
            </a:r>
          </a:p>
        </p:txBody>
      </p:sp>
      <p:sp>
        <p:nvSpPr>
          <p:cNvPr id="20" name="TextBox 30"/>
          <p:cNvSpPr txBox="1"/>
          <p:nvPr/>
        </p:nvSpPr>
        <p:spPr>
          <a:xfrm>
            <a:off x="4638675" y="5183505"/>
            <a:ext cx="411480" cy="272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sz="1200" b="1">
                <a:solidFill>
                  <a:srgbClr val="5A5A5A"/>
                </a:solidFill>
                <a:latin typeface="맑은 고딕"/>
              </a:rPr>
              <a:t>No</a:t>
            </a:r>
          </a:p>
        </p:txBody>
      </p:sp>
      <p:sp>
        <p:nvSpPr>
          <p:cNvPr id="21" name="TextBox 31"/>
          <p:cNvSpPr txBox="1"/>
          <p:nvPr/>
        </p:nvSpPr>
        <p:spPr>
          <a:xfrm>
            <a:off x="6376173" y="5475718"/>
            <a:ext cx="522174" cy="272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sz="1200" b="1">
                <a:solidFill>
                  <a:srgbClr val="5A5A5A"/>
                </a:solidFill>
                <a:latin typeface="맑은 고딕"/>
              </a:rPr>
              <a:t>Yes</a:t>
            </a:r>
          </a:p>
        </p:txBody>
      </p:sp>
      <p:cxnSp>
        <p:nvCxnSpPr>
          <p:cNvPr id="22" name="Connector 32"/>
          <p:cNvCxnSpPr>
            <a:stCxn id="11" idx="1"/>
            <a:endCxn id="15" idx="3"/>
          </p:cNvCxnSpPr>
          <p:nvPr/>
        </p:nvCxnSpPr>
        <p:spPr>
          <a:xfrm rot="10800000" flipV="1">
            <a:off x="2987040" y="3975352"/>
            <a:ext cx="1910196" cy="887727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35"/>
          <p:cNvCxnSpPr>
            <a:cxnSpLocks/>
            <a:stCxn id="13" idx="1"/>
            <a:endCxn id="15" idx="3"/>
          </p:cNvCxnSpPr>
          <p:nvPr/>
        </p:nvCxnSpPr>
        <p:spPr>
          <a:xfrm flipH="1" flipV="1">
            <a:off x="2987039" y="4863080"/>
            <a:ext cx="2057400" cy="433963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37"/>
          <p:cNvCxnSpPr/>
          <p:nvPr/>
        </p:nvCxnSpPr>
        <p:spPr>
          <a:xfrm>
            <a:off x="1729740" y="1301496"/>
            <a:ext cx="203454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38"/>
          <p:cNvCxnSpPr>
            <a:stCxn id="14" idx="3"/>
          </p:cNvCxnSpPr>
          <p:nvPr/>
        </p:nvCxnSpPr>
        <p:spPr>
          <a:xfrm>
            <a:off x="8328660" y="5989286"/>
            <a:ext cx="296418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39"/>
          <p:cNvCxnSpPr/>
          <p:nvPr/>
        </p:nvCxnSpPr>
        <p:spPr>
          <a:xfrm rot="16200000">
            <a:off x="8681936" y="3378381"/>
            <a:ext cx="5221809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40"/>
          <p:cNvCxnSpPr/>
          <p:nvPr/>
        </p:nvCxnSpPr>
        <p:spPr>
          <a:xfrm flipH="1">
            <a:off x="8458200" y="767476"/>
            <a:ext cx="2834640" cy="0"/>
          </a:xfrm>
          <a:prstGeom prst="line">
            <a:avLst/>
          </a:prstGeom>
          <a:ln w="2286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41"/>
          <p:cNvSpPr txBox="1"/>
          <p:nvPr/>
        </p:nvSpPr>
        <p:spPr>
          <a:xfrm>
            <a:off x="9060893" y="476010"/>
            <a:ext cx="2359963" cy="2914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lvl="0" indent="0" algn="ctr">
              <a:buNone/>
              <a:defRPr/>
            </a:pPr>
            <a:r>
              <a:rPr lang="en-US" sz="1300" b="1">
                <a:solidFill>
                  <a:srgbClr val="7251B5"/>
                </a:solidFill>
                <a:latin typeface="Aptos"/>
                <a:ea typeface="Aptos"/>
                <a:cs typeface="Aptos"/>
              </a:rPr>
              <a:t>Next</a:t>
            </a:r>
            <a:r>
              <a:rPr lang="ko-KR" altLang="en-US" sz="1300" b="1">
                <a:solidFill>
                  <a:srgbClr val="7251B5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300" b="1">
                <a:solidFill>
                  <a:srgbClr val="7251B5"/>
                </a:solidFill>
                <a:latin typeface="Aptos"/>
                <a:ea typeface="Aptos"/>
                <a:cs typeface="Aptos"/>
              </a:rPr>
              <a:t>monitoring</a:t>
            </a:r>
            <a:r>
              <a:rPr lang="ko-KR" altLang="en-US" sz="1300" b="1">
                <a:solidFill>
                  <a:srgbClr val="7251B5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300" b="1">
                <a:solidFill>
                  <a:srgbClr val="7251B5"/>
                </a:solidFill>
                <a:latin typeface="Aptos"/>
                <a:ea typeface="Aptos"/>
                <a:cs typeface="Aptos"/>
              </a:rPr>
              <a:t>cycle</a:t>
            </a:r>
          </a:p>
        </p:txBody>
      </p:sp>
      <p:sp>
        <p:nvSpPr>
          <p:cNvPr id="29" name="TextBox 42"/>
          <p:cNvSpPr txBox="1"/>
          <p:nvPr/>
        </p:nvSpPr>
        <p:spPr>
          <a:xfrm>
            <a:off x="1855470" y="6433913"/>
            <a:ext cx="8481060" cy="2697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6B7280"/>
                </a:solidFill>
                <a:latin typeface="Aptos"/>
                <a:ea typeface="Aptos"/>
                <a:cs typeface="Aptos"/>
              </a:rPr>
              <a:t>Key point: the LLM proposes; guard, verifier, and metrics decide whether to keep it.</a:t>
            </a:r>
            <a:endParaRPr sz="1200" b="0">
              <a:solidFill>
                <a:srgbClr val="505050"/>
              </a:solidFill>
              <a:latin typeface="맑은 고딕"/>
            </a:endParaRPr>
          </a:p>
        </p:txBody>
      </p:sp>
      <p:sp>
        <p:nvSpPr>
          <p:cNvPr id="30" name="Rounded Rectangle 9"/>
          <p:cNvSpPr/>
          <p:nvPr/>
        </p:nvSpPr>
        <p:spPr>
          <a:xfrm>
            <a:off x="3764280" y="1549907"/>
            <a:ext cx="4663440" cy="346663"/>
          </a:xfrm>
          <a:prstGeom prst="roundRect">
            <a:avLst>
              <a:gd name="adj" fmla="val 16667"/>
            </a:avLst>
          </a:prstGeom>
          <a:solidFill>
            <a:srgbClr val="FFEDD6"/>
          </a:solidFill>
          <a:ln w="21590">
            <a:solidFill>
              <a:srgbClr val="D78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anchor="ctr"/>
          <a:lstStyle/>
          <a:p>
            <a:pPr marL="0" lvl="0" indent="0" algn="ctr">
              <a:buNone/>
              <a:defRPr/>
            </a:pPr>
            <a:r>
              <a:rPr lang="en-US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proposal_guard pre-check</a:t>
            </a:r>
            <a:endParaRPr b="1">
              <a:solidFill>
                <a:srgbClr val="1E1E1E"/>
              </a:solidFill>
              <a:latin typeface="맑은 고딕"/>
            </a:endParaRPr>
          </a:p>
        </p:txBody>
      </p:sp>
      <p:sp>
        <p:nvSpPr>
          <p:cNvPr id="31" name="Diamond 10"/>
          <p:cNvSpPr/>
          <p:nvPr/>
        </p:nvSpPr>
        <p:spPr>
          <a:xfrm>
            <a:off x="4897235" y="2060659"/>
            <a:ext cx="2397528" cy="563689"/>
          </a:xfrm>
          <a:prstGeom prst="diamond">
            <a:avLst/>
          </a:prstGeom>
          <a:solidFill>
            <a:srgbClr val="FFEDD6"/>
          </a:solidFill>
          <a:ln w="21590">
            <a:solidFill>
              <a:srgbClr val="D78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Safety</a:t>
            </a:r>
          </a:p>
          <a:p>
            <a:pPr marL="0" lvl="0" indent="0" algn="ctr">
              <a:buNone/>
              <a:defRPr/>
            </a:pPr>
            <a:r>
              <a:rPr lang="en-US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passed?</a:t>
            </a:r>
            <a:endParaRPr sz="1800" b="1">
              <a:solidFill>
                <a:srgbClr val="1E1E1E"/>
              </a:solidFill>
              <a:latin typeface="맑은 고딕"/>
            </a:endParaRPr>
          </a:p>
        </p:txBody>
      </p:sp>
      <p:sp>
        <p:nvSpPr>
          <p:cNvPr id="32" name="TextBox 28"/>
          <p:cNvSpPr txBox="1"/>
          <p:nvPr/>
        </p:nvSpPr>
        <p:spPr>
          <a:xfrm>
            <a:off x="4608194" y="2194572"/>
            <a:ext cx="411480" cy="272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sz="1200" b="1">
                <a:solidFill>
                  <a:srgbClr val="5A5A5A"/>
                </a:solidFill>
                <a:latin typeface="맑은 고딕"/>
              </a:rPr>
              <a:t>No</a:t>
            </a:r>
          </a:p>
        </p:txBody>
      </p:sp>
      <p:sp>
        <p:nvSpPr>
          <p:cNvPr id="33" name="TextBox 29"/>
          <p:cNvSpPr txBox="1"/>
          <p:nvPr/>
        </p:nvSpPr>
        <p:spPr>
          <a:xfrm>
            <a:off x="6269150" y="2487930"/>
            <a:ext cx="565109" cy="272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sz="1200" b="1">
                <a:solidFill>
                  <a:srgbClr val="5A5A5A"/>
                </a:solidFill>
                <a:latin typeface="맑은 고딕"/>
              </a:rPr>
              <a:t>Yes</a:t>
            </a:r>
          </a:p>
        </p:txBody>
      </p:sp>
      <p:sp>
        <p:nvSpPr>
          <p:cNvPr id="34" name="Shape 45"/>
          <p:cNvSpPr/>
          <p:nvPr/>
        </p:nvSpPr>
        <p:spPr>
          <a:xfrm>
            <a:off x="8557260" y="3547681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EAF2FF"/>
          </a:solidFill>
          <a:ln w="15240">
            <a:solidFill>
              <a:srgbClr val="3264C8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5" name="Text 46"/>
          <p:cNvSpPr/>
          <p:nvPr/>
        </p:nvSpPr>
        <p:spPr>
          <a:xfrm>
            <a:off x="8648700" y="3602545"/>
            <a:ext cx="2423160" cy="274320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Quota evaluation</a:t>
            </a:r>
            <a:endParaRPr lang="en-US" sz="1400"/>
          </a:p>
        </p:txBody>
      </p:sp>
      <p:sp>
        <p:nvSpPr>
          <p:cNvPr id="36" name="Shape 47"/>
          <p:cNvSpPr/>
          <p:nvPr/>
        </p:nvSpPr>
        <p:spPr>
          <a:xfrm>
            <a:off x="8557260" y="3968305"/>
            <a:ext cx="2606040" cy="539496"/>
          </a:xfrm>
          <a:prstGeom prst="roundRect">
            <a:avLst>
              <a:gd name="adj" fmla="val 10169"/>
            </a:avLst>
          </a:prstGeom>
          <a:solidFill>
            <a:srgbClr val="EAF2FF">
              <a:alpha val="85000"/>
            </a:srgbClr>
          </a:solidFill>
          <a:ln w="12700">
            <a:solidFill>
              <a:srgbClr val="3264C8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7" name="Text 48"/>
          <p:cNvSpPr/>
          <p:nvPr/>
        </p:nvSpPr>
        <p:spPr>
          <a:xfrm>
            <a:off x="8703564" y="4050601"/>
            <a:ext cx="2313432" cy="39319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 fontScale="92500" lnSpcReduction="20000"/>
          </a:bodyPr>
          <a:lstStyle/>
          <a:p>
            <a:pPr marL="0" lvl="0" indent="0">
              <a:buNone/>
              <a:defRPr/>
            </a:pPr>
            <a:r>
              <a:rPr lang="en-US" sz="108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perf: fewer denials</a:t>
            </a:r>
          </a:p>
          <a:p>
            <a:pPr marL="0" lvl="0" indent="0">
              <a:buNone/>
              <a:defRPr/>
            </a:pPr>
            <a:r>
              <a:rPr lang="en-US" sz="108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stab: less thrashing</a:t>
            </a:r>
          </a:p>
          <a:p>
            <a:pPr marL="0" lvl="0" indent="0">
              <a:buNone/>
              <a:defRPr/>
            </a:pPr>
            <a:r>
              <a:rPr lang="en-US" sz="108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eff: headroom</a:t>
            </a:r>
            <a:endParaRPr lang="en-US" sz="1080"/>
          </a:p>
        </p:txBody>
      </p:sp>
      <p:sp>
        <p:nvSpPr>
          <p:cNvPr id="38" name="Shape 49"/>
          <p:cNvSpPr/>
          <p:nvPr/>
        </p:nvSpPr>
        <p:spPr>
          <a:xfrm>
            <a:off x="8557260" y="4690681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E8F6EF"/>
          </a:solidFill>
          <a:ln w="15240">
            <a:solidFill>
              <a:srgbClr val="257A4A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9" name="Text 50"/>
          <p:cNvSpPr/>
          <p:nvPr/>
        </p:nvSpPr>
        <p:spPr>
          <a:xfrm>
            <a:off x="8648700" y="4745545"/>
            <a:ext cx="2423160" cy="274320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Swap evaluation</a:t>
            </a:r>
            <a:endParaRPr lang="en-US" sz="1400"/>
          </a:p>
        </p:txBody>
      </p:sp>
      <p:sp>
        <p:nvSpPr>
          <p:cNvPr id="40" name="Shape 51"/>
          <p:cNvSpPr/>
          <p:nvPr/>
        </p:nvSpPr>
        <p:spPr>
          <a:xfrm>
            <a:off x="8557260" y="5111305"/>
            <a:ext cx="2606040" cy="493776"/>
          </a:xfrm>
          <a:prstGeom prst="roundRect">
            <a:avLst>
              <a:gd name="adj" fmla="val 11111"/>
            </a:avLst>
          </a:prstGeom>
          <a:solidFill>
            <a:srgbClr val="E8F6EF">
              <a:alpha val="85000"/>
            </a:srgbClr>
          </a:solidFill>
          <a:ln w="12700">
            <a:solidFill>
              <a:srgbClr val="257A4A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1" name="Text 52"/>
          <p:cNvSpPr/>
          <p:nvPr/>
        </p:nvSpPr>
        <p:spPr>
          <a:xfrm>
            <a:off x="8703564" y="5193601"/>
            <a:ext cx="2313432" cy="34747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 fontScale="85000" lnSpcReduction="20000"/>
          </a:bodyPr>
          <a:lstStyle/>
          <a:p>
            <a:pPr marL="0" lvl="0" indent="0">
              <a:buNone/>
              <a:defRPr/>
            </a:pPr>
            <a:r>
              <a:rPr lang="en-US" sz="108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Hard Verifier PASS</a:t>
            </a:r>
          </a:p>
          <a:p>
            <a:pPr marL="0" lvl="0" indent="0">
              <a:buNone/>
              <a:defRPr/>
            </a:pPr>
            <a:r>
              <a:rPr lang="en-US" sz="108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stab ≥ threshold</a:t>
            </a:r>
          </a:p>
          <a:p>
            <a:pPr marL="0" lvl="0" indent="0">
              <a:buNone/>
              <a:defRPr/>
            </a:pPr>
            <a:r>
              <a:rPr lang="en-US" sz="108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no excess cycles</a:t>
            </a:r>
            <a:endParaRPr lang="en-US" sz="1080"/>
          </a:p>
        </p:txBody>
      </p:sp>
    </p:spTree>
    <p:extLst>
      <p:ext uri="{BB962C8B-B14F-4D97-AF65-F5344CB8AC3E}">
        <p14:creationId xmlns:p14="http://schemas.microsoft.com/office/powerpoint/2010/main" val="30475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072" y="2560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lvl="0" indent="0">
              <a:buNone/>
              <a:defRPr/>
            </a:pPr>
            <a:r>
              <a:rPr lang="en-US" sz="3000" b="1">
                <a:solidFill>
                  <a:srgbClr val="0E1B3D"/>
                </a:solidFill>
                <a:latin typeface="Aptos Display"/>
                <a:ea typeface="Aptos Display"/>
                <a:cs typeface="Aptos Display"/>
              </a:rPr>
              <a:t>Core Policy Modules: Quota and Swap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30504" y="7132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135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LLM selects the policy and proposes the concrete value to apply.</a:t>
            </a:r>
            <a:endParaRPr lang="en-US" sz="1350"/>
          </a:p>
        </p:txBody>
      </p:sp>
      <p:sp>
        <p:nvSpPr>
          <p:cNvPr id="4" name="Shape 2"/>
          <p:cNvSpPr/>
          <p:nvPr/>
        </p:nvSpPr>
        <p:spPr>
          <a:xfrm>
            <a:off x="2834792" y="1005840"/>
            <a:ext cx="6492240" cy="475488"/>
          </a:xfrm>
          <a:prstGeom prst="roundRect">
            <a:avLst>
              <a:gd name="adj" fmla="val 15385"/>
            </a:avLst>
          </a:prstGeom>
          <a:solidFill>
            <a:srgbClr val="E8F6EF"/>
          </a:solidFill>
          <a:ln w="15240">
            <a:solidFill>
              <a:srgbClr val="257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232" y="1060704"/>
            <a:ext cx="6309360" cy="365760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6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LLM analysis + policy selection + target/value proposal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 flipH="1">
            <a:off x="3269132" y="1517904"/>
            <a:ext cx="1303020" cy="22402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589672" y="1517904"/>
            <a:ext cx="1645919" cy="310896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7392" y="1828800"/>
            <a:ext cx="4983480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5240">
            <a:solidFill>
              <a:srgbClr val="326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832" y="1883664"/>
            <a:ext cx="4800600" cy="39319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Quota</a:t>
            </a:r>
            <a:endParaRPr lang="en-US" sz="2000"/>
          </a:p>
        </p:txBody>
      </p:sp>
      <p:sp>
        <p:nvSpPr>
          <p:cNvPr id="10" name="Shape 8"/>
          <p:cNvSpPr/>
          <p:nvPr/>
        </p:nvSpPr>
        <p:spPr>
          <a:xfrm>
            <a:off x="6446672" y="1828800"/>
            <a:ext cx="4983480" cy="502920"/>
          </a:xfrm>
          <a:prstGeom prst="roundRect">
            <a:avLst>
              <a:gd name="adj" fmla="val 14545"/>
            </a:avLst>
          </a:prstGeom>
          <a:solidFill>
            <a:srgbClr val="E8F6EF"/>
          </a:solidFill>
          <a:ln w="15240">
            <a:solidFill>
              <a:srgbClr val="25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8112" y="1883664"/>
            <a:ext cx="4800600" cy="39319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2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Swap</a:t>
            </a:r>
            <a:endParaRPr lang="en-US" sz="2000"/>
          </a:p>
        </p:txBody>
      </p:sp>
      <p:sp>
        <p:nvSpPr>
          <p:cNvPr id="12" name="Shape 10"/>
          <p:cNvSpPr/>
          <p:nvPr/>
        </p:nvSpPr>
        <p:spPr>
          <a:xfrm>
            <a:off x="777392" y="2542032"/>
            <a:ext cx="4983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240">
            <a:solidFill>
              <a:srgbClr val="326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832" y="2596896"/>
            <a:ext cx="4800600" cy="274320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the LLM decides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777392" y="2962656"/>
            <a:ext cx="4983480" cy="1408176"/>
          </a:xfrm>
          <a:prstGeom prst="roundRect">
            <a:avLst>
              <a:gd name="adj" fmla="val 389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3264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696" y="3044952"/>
            <a:ext cx="4690872" cy="126187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140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Should quota be used?</a:t>
            </a:r>
          </a:p>
          <a:p>
            <a:pPr marL="0" lvl="0" indent="0">
              <a:buNone/>
              <a:defRPr/>
            </a:pPr>
            <a:r>
              <a:rPr lang="en-US" sz="140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Which process is the target?</a:t>
            </a:r>
          </a:p>
          <a:p>
            <a:pPr marL="0" lvl="0" indent="0">
              <a:buNone/>
              <a:defRPr/>
            </a:pPr>
            <a:r>
              <a:rPr lang="en-US" sz="140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Increase, decrease, keep, or release?</a:t>
            </a:r>
          </a:p>
          <a:p>
            <a:pPr marL="0" lvl="0" indent="0">
              <a:buNone/>
              <a:defRPr/>
            </a:pPr>
            <a:r>
              <a:rPr lang="en-US" sz="140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What final quota in bytes?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6446672" y="2542032"/>
            <a:ext cx="4983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240">
            <a:solidFill>
              <a:srgbClr val="25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8112" y="2596896"/>
            <a:ext cx="4800600" cy="274320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the LLM decides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6446672" y="2962656"/>
            <a:ext cx="4983480" cy="1408176"/>
          </a:xfrm>
          <a:prstGeom prst="roundRect">
            <a:avLst>
              <a:gd name="adj" fmla="val 389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25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92976" y="3044952"/>
            <a:ext cx="4690872" cy="126187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140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Should swapout be used?</a:t>
            </a:r>
          </a:p>
          <a:p>
            <a:pPr marL="0" lvl="0" indent="0">
              <a:buNone/>
              <a:defRPr/>
            </a:pPr>
            <a:r>
              <a:rPr lang="en-US" sz="140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Which process is the target?</a:t>
            </a:r>
          </a:p>
          <a:p>
            <a:pPr marL="0" lvl="0" indent="0">
              <a:buNone/>
              <a:defRPr/>
            </a:pPr>
            <a:r>
              <a:rPr lang="en-US" sz="140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How many pages should be swapped out?</a:t>
            </a:r>
          </a:p>
          <a:p>
            <a:pPr marL="0" lvl="0" indent="0">
              <a:buNone/>
              <a:defRPr/>
            </a:pPr>
            <a:r>
              <a:rPr lang="en-US" sz="140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Kernel swap logic selects the actual victim pages.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1508912" y="468172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5240">
            <a:solidFill>
              <a:srgbClr val="3264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352" y="4736592"/>
            <a:ext cx="3337560" cy="548640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Runtime command</a:t>
            </a: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setquota &lt;pid&gt; &lt;bytes&gt;</a:t>
            </a:r>
            <a:endParaRPr lang="en-US" sz="1500"/>
          </a:p>
        </p:txBody>
      </p:sp>
      <p:sp>
        <p:nvSpPr>
          <p:cNvPr id="22" name="Shape 20"/>
          <p:cNvSpPr/>
          <p:nvPr/>
        </p:nvSpPr>
        <p:spPr>
          <a:xfrm>
            <a:off x="7178192" y="468172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E8F6EF"/>
          </a:solidFill>
          <a:ln w="15240">
            <a:solidFill>
              <a:srgbClr val="25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632" y="4736592"/>
            <a:ext cx="3337560" cy="548640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Runtime command</a:t>
            </a:r>
          </a:p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swapctl &lt;pid&gt; &lt;pages&gt;</a:t>
            </a:r>
            <a:endParaRPr lang="en-US" sz="1500"/>
          </a:p>
        </p:txBody>
      </p:sp>
      <p:sp>
        <p:nvSpPr>
          <p:cNvPr id="25" name="Text 23"/>
          <p:cNvSpPr/>
          <p:nvPr/>
        </p:nvSpPr>
        <p:spPr>
          <a:xfrm>
            <a:off x="714422" y="5861304"/>
            <a:ext cx="10763156" cy="39319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ko-KR" altLang="en-US" sz="1300">
                <a:solidFill>
                  <a:srgbClr val="808080"/>
                </a:solidFill>
                <a:latin typeface="Aptos"/>
                <a:ea typeface="Aptos"/>
                <a:cs typeface="Aptos"/>
              </a:rPr>
              <a:t>Each separates the policy into a modular form and effectively reduces meaningless loops in the form of llm proposing fine-tuning.</a:t>
            </a:r>
          </a:p>
        </p:txBody>
      </p:sp>
    </p:spTree>
    <p:extLst>
      <p:ext uri="{BB962C8B-B14F-4D97-AF65-F5344CB8AC3E}">
        <p14:creationId xmlns:p14="http://schemas.microsoft.com/office/powerpoint/2010/main" val="1938389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3072" y="2560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lvl="0" indent="0">
              <a:buNone/>
              <a:defRPr/>
            </a:pPr>
            <a:r>
              <a:rPr lang="en-US" sz="3000" b="1">
                <a:solidFill>
                  <a:srgbClr val="0E1B3D"/>
                </a:solidFill>
                <a:latin typeface="Aptos Display"/>
                <a:ea typeface="Aptos Display"/>
                <a:cs typeface="Aptos Display"/>
              </a:rPr>
              <a:t>Dual Safety Checks: Before and After Runtime Apply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30504" y="7132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1350">
                <a:solidFill>
                  <a:srgbClr val="6B7280"/>
                </a:solidFill>
                <a:latin typeface="Aptos"/>
                <a:ea typeface="Aptos"/>
                <a:cs typeface="Aptos"/>
              </a:rPr>
              <a:t>Two different checks reduce unsafe loops and catch different failure modes.</a:t>
            </a:r>
            <a:endParaRPr lang="en-US" sz="1350"/>
          </a:p>
        </p:txBody>
      </p:sp>
      <p:sp>
        <p:nvSpPr>
          <p:cNvPr id="4" name="Shape 2"/>
          <p:cNvSpPr/>
          <p:nvPr/>
        </p:nvSpPr>
        <p:spPr>
          <a:xfrm>
            <a:off x="914552" y="1659255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E8F6EF"/>
          </a:solidFill>
          <a:ln w="15240">
            <a:solidFill>
              <a:srgbClr val="257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992" y="1714119"/>
            <a:ext cx="2103120" cy="39319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5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LLM candidate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46272" y="1915287"/>
            <a:ext cx="64008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886352" y="1522095"/>
            <a:ext cx="2468880" cy="786384"/>
          </a:xfrm>
          <a:prstGeom prst="roundRect">
            <a:avLst>
              <a:gd name="adj" fmla="val 9302"/>
            </a:avLst>
          </a:prstGeom>
          <a:solidFill>
            <a:srgbClr val="FFF0D9"/>
          </a:solidFill>
          <a:ln w="15240">
            <a:solidFill>
              <a:srgbClr val="E287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792" y="1576959"/>
            <a:ext cx="2286000" cy="676656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6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proposal_guard</a:t>
            </a:r>
            <a:endParaRPr lang="en-US" sz="160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marL="0" lvl="0" indent="0" algn="ctr">
              <a:buNone/>
              <a:defRPr/>
            </a:pPr>
            <a:r>
              <a:rPr lang="en-US" sz="16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pre-check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232" y="1915287"/>
            <a:ext cx="64008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995312" y="1522095"/>
            <a:ext cx="2468880" cy="786384"/>
          </a:xfrm>
          <a:prstGeom prst="roundRect">
            <a:avLst>
              <a:gd name="adj" fmla="val 9302"/>
            </a:avLst>
          </a:prstGeom>
          <a:solidFill>
            <a:srgbClr val="EAF2FF"/>
          </a:solidFill>
          <a:ln w="15240">
            <a:solidFill>
              <a:srgbClr val="326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752" y="1576959"/>
            <a:ext cx="2286000" cy="676656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6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runtime apply</a:t>
            </a:r>
          </a:p>
          <a:p>
            <a:pPr marL="0" lvl="0" indent="0" algn="ctr">
              <a:buNone/>
              <a:defRPr/>
            </a:pPr>
            <a:r>
              <a:rPr lang="en-US" sz="16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setquota</a:t>
            </a:r>
            <a:r>
              <a:rPr lang="en-US" sz="16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/ </a:t>
            </a:r>
            <a:r>
              <a:rPr lang="en-US" sz="16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swapctl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464192" y="1915287"/>
            <a:ext cx="64008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104272" y="1522095"/>
            <a:ext cx="1600200" cy="786384"/>
          </a:xfrm>
          <a:prstGeom prst="roundRect">
            <a:avLst>
              <a:gd name="adj" fmla="val 9302"/>
            </a:avLst>
          </a:prstGeom>
          <a:solidFill>
            <a:srgbClr val="F0EBFF"/>
          </a:solidFill>
          <a:ln w="15240">
            <a:solidFill>
              <a:srgbClr val="7251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95712" y="1576959"/>
            <a:ext cx="1417320" cy="676656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Hard Verifier</a:t>
            </a:r>
          </a:p>
          <a:p>
            <a:pPr marL="0" lvl="0" indent="0" algn="ctr">
              <a:buNone/>
              <a:defRPr/>
            </a:pPr>
            <a:r>
              <a:rPr lang="en-US"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post-check</a:t>
            </a:r>
            <a:endParaRPr lang="en-US" sz="1350"/>
          </a:p>
        </p:txBody>
      </p:sp>
      <p:sp>
        <p:nvSpPr>
          <p:cNvPr id="15" name="Shape 13"/>
          <p:cNvSpPr/>
          <p:nvPr/>
        </p:nvSpPr>
        <p:spPr>
          <a:xfrm>
            <a:off x="777392" y="2893695"/>
            <a:ext cx="5166360" cy="384048"/>
          </a:xfrm>
          <a:prstGeom prst="roundRect">
            <a:avLst>
              <a:gd name="adj" fmla="val 19048"/>
            </a:avLst>
          </a:prstGeom>
          <a:solidFill>
            <a:srgbClr val="FFF0D9"/>
          </a:solidFill>
          <a:ln w="15240">
            <a:solidFill>
              <a:srgbClr val="E287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832" y="2948559"/>
            <a:ext cx="4983480" cy="274320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proposal_guard blocks unsafe candidates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777392" y="3314319"/>
            <a:ext cx="5166360" cy="2002536"/>
          </a:xfrm>
          <a:prstGeom prst="roundRect">
            <a:avLst>
              <a:gd name="adj" fmla="val 2740"/>
            </a:avLst>
          </a:prstGeom>
          <a:solidFill>
            <a:srgbClr val="FFF0D9">
              <a:alpha val="85000"/>
            </a:srgbClr>
          </a:solidFill>
          <a:ln w="12700">
            <a:solidFill>
              <a:srgbClr val="E287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696" y="3396615"/>
            <a:ext cx="4873752" cy="185623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132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allowed action only</a:t>
            </a:r>
          </a:p>
          <a:p>
            <a:pPr marL="0" lvl="0" indent="0">
              <a:buNone/>
              <a:defRPr/>
            </a:pPr>
            <a:r>
              <a:rPr lang="en-US" sz="132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target PID exists</a:t>
            </a:r>
          </a:p>
          <a:p>
            <a:pPr marL="0" lvl="0" indent="0">
              <a:buNone/>
              <a:defRPr/>
            </a:pPr>
            <a:r>
              <a:rPr lang="en-US" sz="132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protect init and sh</a:t>
            </a:r>
          </a:p>
          <a:p>
            <a:pPr marL="0" lvl="0" indent="0">
              <a:buNone/>
              <a:defRPr/>
            </a:pPr>
            <a:r>
              <a:rPr lang="en-US" sz="132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quota floor: sz + 4096</a:t>
            </a:r>
          </a:p>
          <a:p>
            <a:pPr marL="0" lvl="0" indent="0">
              <a:buNone/>
              <a:defRPr/>
            </a:pPr>
            <a:r>
              <a:rPr lang="en-US" sz="132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conservative swapout page count</a:t>
            </a:r>
          </a:p>
          <a:p>
            <a:pPr marL="0" lvl="0" indent="0">
              <a:buNone/>
              <a:defRPr/>
            </a:pPr>
            <a:r>
              <a:rPr lang="en-US" sz="132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manual approval before mutation</a:t>
            </a:r>
            <a:endParaRPr lang="en-US" sz="1320"/>
          </a:p>
        </p:txBody>
      </p:sp>
      <p:sp>
        <p:nvSpPr>
          <p:cNvPr id="19" name="Shape 17"/>
          <p:cNvSpPr/>
          <p:nvPr/>
        </p:nvSpPr>
        <p:spPr>
          <a:xfrm>
            <a:off x="6263792" y="2893695"/>
            <a:ext cx="5166360" cy="384048"/>
          </a:xfrm>
          <a:prstGeom prst="roundRect">
            <a:avLst>
              <a:gd name="adj" fmla="val 19048"/>
            </a:avLst>
          </a:prstGeom>
          <a:solidFill>
            <a:srgbClr val="F0EBFF"/>
          </a:solidFill>
          <a:ln w="15240">
            <a:solidFill>
              <a:srgbClr val="7251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232" y="2948559"/>
            <a:ext cx="4983480" cy="274320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Hard Verifier checks runtime stability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6263792" y="3314319"/>
            <a:ext cx="5166360" cy="2002536"/>
          </a:xfrm>
          <a:prstGeom prst="roundRect">
            <a:avLst>
              <a:gd name="adj" fmla="val 2740"/>
            </a:avLst>
          </a:prstGeom>
          <a:solidFill>
            <a:srgbClr val="F0EBFF">
              <a:alpha val="85000"/>
            </a:srgbClr>
          </a:solidFill>
          <a:ln w="12700">
            <a:solidFill>
              <a:srgbClr val="7251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0096" y="3396615"/>
            <a:ext cx="4873752" cy="185623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132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no panic / kerneltrap</a:t>
            </a:r>
          </a:p>
          <a:p>
            <a:pPr marL="0" lvl="0" indent="0">
              <a:buNone/>
              <a:defRPr/>
            </a:pPr>
            <a:r>
              <a:rPr lang="en-US" sz="132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init and sh remain alive</a:t>
            </a:r>
          </a:p>
          <a:p>
            <a:pPr marL="0" lvl="0" indent="0">
              <a:buNone/>
              <a:defRPr/>
            </a:pPr>
            <a:r>
              <a:rPr lang="en-US" sz="132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target process remains alive</a:t>
            </a:r>
          </a:p>
          <a:p>
            <a:pPr marL="0" lvl="0" indent="0">
              <a:buNone/>
              <a:defRPr/>
            </a:pPr>
            <a:r>
              <a:rPr lang="en-US" sz="132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memwatch still works</a:t>
            </a:r>
          </a:p>
          <a:p>
            <a:pPr marL="0" lvl="0" indent="0">
              <a:buNone/>
              <a:defRPr/>
            </a:pPr>
            <a:r>
              <a:rPr lang="en-US" sz="132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no pattern mismatch</a:t>
            </a:r>
          </a:p>
          <a:p>
            <a:pPr marL="0" lvl="0" indent="0">
              <a:buNone/>
              <a:defRPr/>
            </a:pPr>
            <a:r>
              <a:rPr lang="en-US" sz="132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swap slot bounds are valid</a:t>
            </a:r>
          </a:p>
          <a:p>
            <a:pPr marL="0" lvl="0" indent="0">
              <a:buNone/>
              <a:defRPr/>
            </a:pPr>
            <a:r>
              <a:rPr lang="en-US" sz="132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swapout activity is observed</a:t>
            </a:r>
            <a:endParaRPr lang="en-US" sz="1320"/>
          </a:p>
        </p:txBody>
      </p:sp>
      <p:sp>
        <p:nvSpPr>
          <p:cNvPr id="28" name="직사각형 27"/>
          <p:cNvSpPr/>
          <p:nvPr/>
        </p:nvSpPr>
        <p:spPr>
          <a:xfrm>
            <a:off x="1523046" y="6071997"/>
            <a:ext cx="9145907" cy="2880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1300" b="0" i="0" strike="noStrike">
                <a:solidFill>
                  <a:srgbClr val="808080"/>
                </a:solidFill>
                <a:latin typeface="Arial"/>
                <a:ea typeface="굴림"/>
              </a:rPr>
              <a:t>Guard "blocks dangerous proposals" and Verifier "check kernel stability after application"</a:t>
            </a:r>
          </a:p>
        </p:txBody>
      </p:sp>
    </p:spTree>
    <p:extLst>
      <p:ext uri="{BB962C8B-B14F-4D97-AF65-F5344CB8AC3E}">
        <p14:creationId xmlns:p14="http://schemas.microsoft.com/office/powerpoint/2010/main" val="1976111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모서리가 둥근 직사각형 72"/>
          <p:cNvSpPr/>
          <p:nvPr/>
        </p:nvSpPr>
        <p:spPr>
          <a:xfrm>
            <a:off x="2726207" y="2799588"/>
            <a:ext cx="539496" cy="1595628"/>
          </a:xfrm>
          <a:prstGeom prst="roundRect">
            <a:avLst>
              <a:gd name="adj" fmla="val 16667"/>
            </a:avLst>
          </a:prstGeom>
          <a:solidFill>
            <a:srgbClr val="DFE6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" name="Text 0"/>
          <p:cNvSpPr/>
          <p:nvPr/>
        </p:nvSpPr>
        <p:spPr>
          <a:xfrm>
            <a:off x="503072" y="2560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lvl="0" indent="0">
              <a:buNone/>
              <a:defRPr/>
            </a:pPr>
            <a:r>
              <a:rPr lang="en-US" sz="3000" b="1">
                <a:solidFill>
                  <a:srgbClr val="0E1B3D"/>
                </a:solidFill>
                <a:latin typeface="Aptos Display"/>
                <a:ea typeface="Aptos Display"/>
                <a:cs typeface="Aptos Display"/>
              </a:rPr>
              <a:t>Evaluation and Rollback: Quota Uses Score, Swap Uses Stability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30504" y="7132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135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LLM does not score policies; Python code evaluates fixed metrics.</a:t>
            </a:r>
            <a:endParaRPr lang="en-US" sz="1350"/>
          </a:p>
        </p:txBody>
      </p:sp>
      <p:sp>
        <p:nvSpPr>
          <p:cNvPr id="4" name="Shape 2"/>
          <p:cNvSpPr/>
          <p:nvPr/>
        </p:nvSpPr>
        <p:spPr>
          <a:xfrm>
            <a:off x="823112" y="1234440"/>
            <a:ext cx="1874520" cy="502920"/>
          </a:xfrm>
          <a:prstGeom prst="roundRect">
            <a:avLst>
              <a:gd name="adj" fmla="val 14545"/>
            </a:avLst>
          </a:prstGeom>
          <a:solidFill>
            <a:srgbClr val="F4F6FA"/>
          </a:solidFill>
          <a:ln w="15240">
            <a:solidFill>
              <a:srgbClr val="BEC5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552" y="1289304"/>
            <a:ext cx="1691640" cy="39319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baseline state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25064" y="1481328"/>
            <a:ext cx="1024128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49192" y="12344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5240">
            <a:solidFill>
              <a:srgbClr val="3264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632" y="1289304"/>
            <a:ext cx="1828800" cy="39319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apply candidate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06592" y="1481328"/>
            <a:ext cx="1033272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39864" y="12344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4F6FA"/>
          </a:solidFill>
          <a:ln w="15240">
            <a:solidFill>
              <a:srgbClr val="BEC5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1304" y="1289304"/>
            <a:ext cx="1737360" cy="39319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candidate state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96680" y="1481328"/>
            <a:ext cx="1033272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829952" y="123444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0D9"/>
          </a:solidFill>
          <a:ln w="15240">
            <a:solidFill>
              <a:srgbClr val="E287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21392" y="1289304"/>
            <a:ext cx="1325880" cy="39319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evaluate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392" y="224028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5240">
            <a:solidFill>
              <a:srgbClr val="3264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832" y="2295144"/>
            <a:ext cx="4937760" cy="39319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Quota score</a:t>
            </a:r>
            <a:endParaRPr lang="en-US" sz="1800"/>
          </a:p>
        </p:txBody>
      </p:sp>
      <p:sp>
        <p:nvSpPr>
          <p:cNvPr id="17" name="Shape 15"/>
          <p:cNvSpPr/>
          <p:nvPr/>
        </p:nvSpPr>
        <p:spPr>
          <a:xfrm>
            <a:off x="1828952" y="2862072"/>
            <a:ext cx="497586" cy="4846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3264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76552" y="2935986"/>
            <a:ext cx="822960" cy="34747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perf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2463889" y="30358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77500" lnSpcReduction="20000"/>
          </a:bodyPr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×</a:t>
            </a:r>
            <a:endParaRPr lang="en-US" sz="1800"/>
          </a:p>
        </p:txBody>
      </p:sp>
      <p:sp>
        <p:nvSpPr>
          <p:cNvPr id="20" name="Shape 18"/>
          <p:cNvSpPr/>
          <p:nvPr/>
        </p:nvSpPr>
        <p:spPr>
          <a:xfrm>
            <a:off x="2829839" y="2871597"/>
            <a:ext cx="33032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3264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2679" y="2935986"/>
            <a:ext cx="594360" cy="34747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</a:t>
            </a:r>
            <a:r>
              <a:rPr lang="en-US" sz="1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3332569" y="28620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1250">
                <a:solidFill>
                  <a:srgbClr val="6B7280"/>
                </a:solidFill>
                <a:latin typeface="Aptos"/>
                <a:ea typeface="Aptos"/>
                <a:cs typeface="Aptos"/>
              </a:rPr>
              <a:t>→ weighted score comparison</a:t>
            </a:r>
            <a:endParaRPr lang="en-US" sz="1250"/>
          </a:p>
        </p:txBody>
      </p:sp>
      <p:sp>
        <p:nvSpPr>
          <p:cNvPr id="31" name="Shape 29"/>
          <p:cNvSpPr/>
          <p:nvPr/>
        </p:nvSpPr>
        <p:spPr>
          <a:xfrm>
            <a:off x="777392" y="4480560"/>
            <a:ext cx="5120640" cy="384048"/>
          </a:xfrm>
          <a:prstGeom prst="roundRect">
            <a:avLst>
              <a:gd name="adj" fmla="val 19048"/>
            </a:avLst>
          </a:prstGeom>
          <a:solidFill>
            <a:srgbClr val="EAF2FF"/>
          </a:solidFill>
          <a:ln w="15240">
            <a:solidFill>
              <a:srgbClr val="3264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832" y="4535424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Quota metrics</a:t>
            </a:r>
            <a:endParaRPr lang="en-US" sz="1400"/>
          </a:p>
        </p:txBody>
      </p:sp>
      <p:sp>
        <p:nvSpPr>
          <p:cNvPr id="33" name="Shape 31"/>
          <p:cNvSpPr/>
          <p:nvPr/>
        </p:nvSpPr>
        <p:spPr>
          <a:xfrm>
            <a:off x="777392" y="4901184"/>
            <a:ext cx="5120640" cy="694944"/>
          </a:xfrm>
          <a:prstGeom prst="roundRect">
            <a:avLst>
              <a:gd name="adj" fmla="val 7895"/>
            </a:avLst>
          </a:prstGeom>
          <a:solidFill>
            <a:srgbClr val="EAF2FF">
              <a:alpha val="85000"/>
            </a:srgbClr>
          </a:solidFill>
          <a:ln w="12700">
            <a:solidFill>
              <a:srgbClr val="3264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696" y="4983480"/>
            <a:ext cx="4828032" cy="548640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125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perf: fewer quota denials</a:t>
            </a:r>
          </a:p>
          <a:p>
            <a:pPr marL="0" lvl="0" indent="0">
              <a:buNone/>
              <a:defRPr/>
            </a:pPr>
            <a:r>
              <a:rPr lang="en-US" sz="125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stab: lower thrashing ratio</a:t>
            </a:r>
          </a:p>
          <a:p>
            <a:pPr marL="0" lvl="0" indent="0">
              <a:buNone/>
              <a:defRPr/>
            </a:pPr>
            <a:r>
              <a:rPr lang="en-US" sz="125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eff: useful headroom, not waste</a:t>
            </a:r>
            <a:endParaRPr lang="en-US" sz="1250"/>
          </a:p>
        </p:txBody>
      </p:sp>
      <p:sp>
        <p:nvSpPr>
          <p:cNvPr id="35" name="Shape 33"/>
          <p:cNvSpPr/>
          <p:nvPr/>
        </p:nvSpPr>
        <p:spPr>
          <a:xfrm>
            <a:off x="6400952" y="2240280"/>
            <a:ext cx="4983480" cy="502920"/>
          </a:xfrm>
          <a:prstGeom prst="roundRect">
            <a:avLst>
              <a:gd name="adj" fmla="val 14545"/>
            </a:avLst>
          </a:prstGeom>
          <a:solidFill>
            <a:srgbClr val="E8F6EF"/>
          </a:solidFill>
          <a:ln w="15240">
            <a:solidFill>
              <a:srgbClr val="25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392" y="2295144"/>
            <a:ext cx="4800600" cy="39319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Swap stability</a:t>
            </a:r>
            <a:endParaRPr lang="en-US" sz="1800"/>
          </a:p>
        </p:txBody>
      </p:sp>
      <p:sp>
        <p:nvSpPr>
          <p:cNvPr id="40" name="Shape 38"/>
          <p:cNvSpPr/>
          <p:nvPr/>
        </p:nvSpPr>
        <p:spPr>
          <a:xfrm>
            <a:off x="7993532" y="29718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25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84972" y="3026664"/>
            <a:ext cx="1463040" cy="39319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stab ≥ 0.85</a:t>
            </a:r>
            <a:endParaRPr lang="en-US" sz="1350"/>
          </a:p>
        </p:txBody>
      </p:sp>
      <p:sp>
        <p:nvSpPr>
          <p:cNvPr id="42" name="Shape 40"/>
          <p:cNvSpPr/>
          <p:nvPr/>
        </p:nvSpPr>
        <p:spPr>
          <a:xfrm>
            <a:off x="7332497" y="3703320"/>
            <a:ext cx="2971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257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23937" y="3758184"/>
            <a:ext cx="2788920" cy="39319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 excessive swap cycles</a:t>
            </a:r>
            <a:endParaRPr lang="en-US" sz="1350"/>
          </a:p>
        </p:txBody>
      </p:sp>
      <p:sp>
        <p:nvSpPr>
          <p:cNvPr id="44" name="Shape 42"/>
          <p:cNvSpPr/>
          <p:nvPr/>
        </p:nvSpPr>
        <p:spPr>
          <a:xfrm>
            <a:off x="6400952" y="4480560"/>
            <a:ext cx="4983480" cy="384048"/>
          </a:xfrm>
          <a:prstGeom prst="roundRect">
            <a:avLst>
              <a:gd name="adj" fmla="val 19048"/>
            </a:avLst>
          </a:prstGeom>
          <a:solidFill>
            <a:srgbClr val="E8F6EF"/>
          </a:solidFill>
          <a:ln w="15240">
            <a:solidFill>
              <a:srgbClr val="257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392" y="4535424"/>
            <a:ext cx="4800600" cy="274320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Current scope</a:t>
            </a:r>
            <a:endParaRPr lang="en-US" sz="1400"/>
          </a:p>
        </p:txBody>
      </p:sp>
      <p:sp>
        <p:nvSpPr>
          <p:cNvPr id="46" name="Shape 44"/>
          <p:cNvSpPr/>
          <p:nvPr/>
        </p:nvSpPr>
        <p:spPr>
          <a:xfrm>
            <a:off x="6400952" y="4901184"/>
            <a:ext cx="4983480" cy="694944"/>
          </a:xfrm>
          <a:prstGeom prst="roundRect">
            <a:avLst>
              <a:gd name="adj" fmla="val 7895"/>
            </a:avLst>
          </a:prstGeom>
          <a:solidFill>
            <a:srgbClr val="E8F6EF">
              <a:alpha val="85000"/>
            </a:srgbClr>
          </a:solidFill>
          <a:ln w="12700">
            <a:solidFill>
              <a:srgbClr val="257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47256" y="4983480"/>
            <a:ext cx="4690872" cy="548640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125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focuses on preventing instability</a:t>
            </a:r>
          </a:p>
          <a:p>
            <a:pPr marL="0" lvl="0" indent="0">
              <a:buNone/>
              <a:defRPr/>
            </a:pPr>
            <a:r>
              <a:rPr lang="en-US" sz="125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does not yet measure full swap benefit</a:t>
            </a:r>
          </a:p>
          <a:p>
            <a:pPr marL="0" lvl="0" indent="0">
              <a:buNone/>
              <a:defRPr/>
            </a:pPr>
            <a:r>
              <a:rPr lang="en-US" sz="125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future metrics: free pages, OOM avoidance, I/O cost</a:t>
            </a:r>
            <a:endParaRPr lang="en-US" sz="1250"/>
          </a:p>
        </p:txBody>
      </p:sp>
      <p:sp>
        <p:nvSpPr>
          <p:cNvPr id="62" name="Shape 15"/>
          <p:cNvSpPr/>
          <p:nvPr/>
        </p:nvSpPr>
        <p:spPr>
          <a:xfrm>
            <a:off x="1839239" y="3359658"/>
            <a:ext cx="497586" cy="4846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3264C8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3" name="Text 16"/>
          <p:cNvSpPr/>
          <p:nvPr/>
        </p:nvSpPr>
        <p:spPr>
          <a:xfrm>
            <a:off x="1686839" y="3433572"/>
            <a:ext cx="822960" cy="34747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1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stab</a:t>
            </a:r>
          </a:p>
        </p:txBody>
      </p:sp>
      <p:sp>
        <p:nvSpPr>
          <p:cNvPr id="64" name="Text 17"/>
          <p:cNvSpPr/>
          <p:nvPr/>
        </p:nvSpPr>
        <p:spPr>
          <a:xfrm>
            <a:off x="2474176" y="353339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77500" lnSpcReduction="20000"/>
          </a:bodyPr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×</a:t>
            </a:r>
            <a:endParaRPr lang="en-US" sz="1800"/>
          </a:p>
        </p:txBody>
      </p:sp>
      <p:sp>
        <p:nvSpPr>
          <p:cNvPr id="65" name="Shape 18"/>
          <p:cNvSpPr/>
          <p:nvPr/>
        </p:nvSpPr>
        <p:spPr>
          <a:xfrm>
            <a:off x="2840126" y="3369183"/>
            <a:ext cx="33032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3264C8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6" name="Text 19"/>
          <p:cNvSpPr/>
          <p:nvPr/>
        </p:nvSpPr>
        <p:spPr>
          <a:xfrm>
            <a:off x="2702966" y="3433572"/>
            <a:ext cx="594360" cy="34747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</a:t>
            </a:r>
            <a:r>
              <a:rPr lang="en-US" altLang="ko-KR" sz="1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7" name="Shape 15"/>
          <p:cNvSpPr/>
          <p:nvPr/>
        </p:nvSpPr>
        <p:spPr>
          <a:xfrm>
            <a:off x="1840001" y="3854196"/>
            <a:ext cx="497586" cy="4846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3264C8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8" name="Text 16"/>
          <p:cNvSpPr/>
          <p:nvPr/>
        </p:nvSpPr>
        <p:spPr>
          <a:xfrm>
            <a:off x="1687601" y="3928110"/>
            <a:ext cx="822960" cy="34747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altLang="ko-KR" sz="1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eff</a:t>
            </a:r>
          </a:p>
        </p:txBody>
      </p:sp>
      <p:sp>
        <p:nvSpPr>
          <p:cNvPr id="69" name="Text 17"/>
          <p:cNvSpPr/>
          <p:nvPr/>
        </p:nvSpPr>
        <p:spPr>
          <a:xfrm>
            <a:off x="2474938" y="40279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77500" lnSpcReduction="20000"/>
          </a:bodyPr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×</a:t>
            </a:r>
            <a:endParaRPr lang="en-US" sz="1800"/>
          </a:p>
        </p:txBody>
      </p:sp>
      <p:sp>
        <p:nvSpPr>
          <p:cNvPr id="70" name="Shape 18"/>
          <p:cNvSpPr/>
          <p:nvPr/>
        </p:nvSpPr>
        <p:spPr>
          <a:xfrm>
            <a:off x="2840888" y="3863721"/>
            <a:ext cx="33032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3264C8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1" name="Text 19"/>
          <p:cNvSpPr/>
          <p:nvPr/>
        </p:nvSpPr>
        <p:spPr>
          <a:xfrm>
            <a:off x="2703728" y="3928110"/>
            <a:ext cx="594360" cy="34747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1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</a:t>
            </a:r>
            <a:r>
              <a:rPr lang="en-US" altLang="ko-KR" sz="1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5" name="Text 14"/>
          <p:cNvSpPr/>
          <p:nvPr/>
        </p:nvSpPr>
        <p:spPr>
          <a:xfrm>
            <a:off x="1143152" y="604037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ko-KR" altLang="en-US" sz="1300">
                <a:solidFill>
                  <a:srgbClr val="808080"/>
                </a:solidFill>
                <a:latin typeface="Noto Sans CJK KR"/>
                <a:ea typeface="Noto Sans CJK KR"/>
                <a:cs typeface="Noto Sans CJK KR"/>
              </a:rPr>
              <a:t>Each calculation and standard are set aside to increase reliability</a:t>
            </a:r>
          </a:p>
        </p:txBody>
      </p:sp>
    </p:spTree>
    <p:extLst>
      <p:ext uri="{BB962C8B-B14F-4D97-AF65-F5344CB8AC3E}">
        <p14:creationId xmlns:p14="http://schemas.microsoft.com/office/powerpoint/2010/main" val="3427013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429843" y="1864587"/>
            <a:ext cx="3914360" cy="499341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47930" y="1864587"/>
            <a:ext cx="6581913" cy="4993413"/>
          </a:xfrm>
          <a:prstGeom prst="rect">
            <a:avLst/>
          </a:prstGeom>
        </p:spPr>
      </p:pic>
      <p:sp>
        <p:nvSpPr>
          <p:cNvPr id="6" name="가로 글상자 5"/>
          <p:cNvSpPr txBox="1"/>
          <p:nvPr/>
        </p:nvSpPr>
        <p:spPr>
          <a:xfrm>
            <a:off x="285749" y="251460"/>
            <a:ext cx="6096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>
              <a:buNone/>
              <a:defRPr/>
            </a:pPr>
            <a:r>
              <a:rPr lang="en-US" sz="3000" b="1" dirty="0">
                <a:solidFill>
                  <a:srgbClr val="0E1B3D"/>
                </a:solidFill>
                <a:latin typeface="Aptos Display"/>
                <a:ea typeface="Aptos Display"/>
                <a:cs typeface="Aptos Display"/>
              </a:rPr>
              <a:t>Results/quota</a:t>
            </a:r>
            <a:endParaRPr lang="ko-KR" altLang="en-US" dirty="0"/>
          </a:p>
        </p:txBody>
      </p:sp>
      <p:sp>
        <p:nvSpPr>
          <p:cNvPr id="8" name="가로 글상자 7"/>
          <p:cNvSpPr txBox="1"/>
          <p:nvPr/>
        </p:nvSpPr>
        <p:spPr>
          <a:xfrm>
            <a:off x="3528345" y="1467273"/>
            <a:ext cx="1948018" cy="364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eng</a:t>
            </a:r>
          </a:p>
        </p:txBody>
      </p:sp>
      <p:sp>
        <p:nvSpPr>
          <p:cNvPr id="9" name="가로 글상자 8"/>
          <p:cNvSpPr txBox="1"/>
          <p:nvPr/>
        </p:nvSpPr>
        <p:spPr>
          <a:xfrm>
            <a:off x="8843695" y="1467273"/>
            <a:ext cx="1948018" cy="364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kor</a:t>
            </a:r>
          </a:p>
        </p:txBody>
      </p:sp>
    </p:spTree>
    <p:extLst>
      <p:ext uri="{BB962C8B-B14F-4D97-AF65-F5344CB8AC3E}">
        <p14:creationId xmlns:p14="http://schemas.microsoft.com/office/powerpoint/2010/main" val="3745457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357421" y="1831620"/>
            <a:ext cx="3773469" cy="500098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88848" y="1831620"/>
            <a:ext cx="6468573" cy="4983756"/>
          </a:xfrm>
          <a:prstGeom prst="rect">
            <a:avLst/>
          </a:prstGeom>
        </p:spPr>
      </p:pic>
      <p:sp>
        <p:nvSpPr>
          <p:cNvPr id="4" name="가로 글상자 3"/>
          <p:cNvSpPr txBox="1"/>
          <p:nvPr/>
        </p:nvSpPr>
        <p:spPr>
          <a:xfrm>
            <a:off x="285749" y="251460"/>
            <a:ext cx="6096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>
              <a:buNone/>
              <a:defRPr/>
            </a:pPr>
            <a:r>
              <a:rPr lang="en-US" sz="3000" b="1" dirty="0">
                <a:solidFill>
                  <a:srgbClr val="0E1B3D"/>
                </a:solidFill>
                <a:latin typeface="Aptos Display"/>
                <a:ea typeface="Aptos Display"/>
                <a:cs typeface="Aptos Display"/>
              </a:rPr>
              <a:t>Results/swap</a:t>
            </a:r>
            <a:endParaRPr lang="ko-KR" altLang="en-US" dirty="0"/>
          </a:p>
        </p:txBody>
      </p:sp>
      <p:sp>
        <p:nvSpPr>
          <p:cNvPr id="5" name="가로 글상자 4"/>
          <p:cNvSpPr txBox="1"/>
          <p:nvPr/>
        </p:nvSpPr>
        <p:spPr>
          <a:xfrm>
            <a:off x="3528345" y="1467273"/>
            <a:ext cx="1948018" cy="364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/>
              <a:t>eng</a:t>
            </a:r>
            <a:endParaRPr lang="en-US" altLang="ko-KR" dirty="0"/>
          </a:p>
        </p:txBody>
      </p:sp>
      <p:sp>
        <p:nvSpPr>
          <p:cNvPr id="6" name="가로 글상자 5"/>
          <p:cNvSpPr txBox="1"/>
          <p:nvPr/>
        </p:nvSpPr>
        <p:spPr>
          <a:xfrm>
            <a:off x="8843695" y="1467273"/>
            <a:ext cx="1948018" cy="364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kor</a:t>
            </a:r>
          </a:p>
        </p:txBody>
      </p:sp>
    </p:spTree>
    <p:extLst>
      <p:ext uri="{BB962C8B-B14F-4D97-AF65-F5344CB8AC3E}">
        <p14:creationId xmlns:p14="http://schemas.microsoft.com/office/powerpoint/2010/main" val="3797056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56FA70B-4EE5-03F3-E87E-0B233B5C6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8497"/>
            <a:ext cx="5873701" cy="482950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2047082-F6F3-8A10-8D4C-82747C16C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2028495"/>
            <a:ext cx="6095999" cy="4829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1D0A8-0DAA-FD90-D331-FAC894975EBE}"/>
              </a:ext>
            </a:extLst>
          </p:cNvPr>
          <p:cNvSpPr txBox="1"/>
          <p:nvPr/>
        </p:nvSpPr>
        <p:spPr>
          <a:xfrm>
            <a:off x="89453" y="767653"/>
            <a:ext cx="5533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Immediate name-based classification with automatic </a:t>
            </a:r>
          </a:p>
          <a:p>
            <a:r>
              <a:rPr lang="en-US" altLang="ko-KR" dirty="0"/>
              <a:t>priority and quantum adjustment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43A71B-383B-3A59-8C5F-2D4CDEA3630C}"/>
              </a:ext>
            </a:extLst>
          </p:cNvPr>
          <p:cNvSpPr txBox="1"/>
          <p:nvPr/>
        </p:nvSpPr>
        <p:spPr>
          <a:xfrm>
            <a:off x="6171058" y="767652"/>
            <a:ext cx="3860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Pattern-based learning accumulated </a:t>
            </a:r>
          </a:p>
          <a:p>
            <a:r>
              <a:rPr lang="en-US" altLang="ko-KR" dirty="0"/>
              <a:t>by process name after termination</a:t>
            </a:r>
            <a:endParaRPr lang="ko-KR" altLang="en-US" dirty="0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3108C038-0E86-EA51-6EE9-8B6D827A151B}"/>
              </a:ext>
            </a:extLst>
          </p:cNvPr>
          <p:cNvSpPr/>
          <p:nvPr/>
        </p:nvSpPr>
        <p:spPr>
          <a:xfrm>
            <a:off x="2295939" y="1486300"/>
            <a:ext cx="864704" cy="3975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B75C4AD5-5F1C-569C-E322-4CC60EC3BA98}"/>
              </a:ext>
            </a:extLst>
          </p:cNvPr>
          <p:cNvSpPr/>
          <p:nvPr/>
        </p:nvSpPr>
        <p:spPr>
          <a:xfrm>
            <a:off x="8599007" y="1486300"/>
            <a:ext cx="864704" cy="3975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99B1B-40AB-E44E-D948-527F290B2E39}"/>
              </a:ext>
            </a:extLst>
          </p:cNvPr>
          <p:cNvSpPr txBox="1"/>
          <p:nvPr/>
        </p:nvSpPr>
        <p:spPr>
          <a:xfrm>
            <a:off x="4165770" y="162175"/>
            <a:ext cx="3415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LLM Scheduler Demonstration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1BF3E81A-1EA7-BC54-60AE-A656297EEDAA}"/>
                  </a:ext>
                </a:extLst>
              </p14:cNvPr>
              <p14:cNvContentPartPr/>
              <p14:nvPr/>
            </p14:nvContentPartPr>
            <p14:xfrm>
              <a:off x="4172363" y="325672"/>
              <a:ext cx="2922480" cy="417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1BF3E81A-1EA7-BC54-60AE-A656297EED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18363" y="218032"/>
                <a:ext cx="3030120" cy="25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5774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34A280-B0D2-5907-2376-BC24DF2BD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1251"/>
            <a:ext cx="5898694" cy="361025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57E0E7B-3E59-E018-96DB-BB90BFA07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67340"/>
            <a:ext cx="6096000" cy="47906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BEBF37-E27A-3387-B058-152CA131D2B0}"/>
              </a:ext>
            </a:extLst>
          </p:cNvPr>
          <p:cNvSpPr txBox="1"/>
          <p:nvPr/>
        </p:nvSpPr>
        <p:spPr>
          <a:xfrm>
            <a:off x="278295" y="979147"/>
            <a:ext cx="5168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Job-group management with fork-bomb detection </a:t>
            </a:r>
          </a:p>
          <a:p>
            <a:r>
              <a:rPr lang="en-US" altLang="ko-KR" dirty="0"/>
              <a:t>and mitigation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D7067-2299-5A01-3317-FC7CD2B2AEE7}"/>
              </a:ext>
            </a:extLst>
          </p:cNvPr>
          <p:cNvSpPr txBox="1"/>
          <p:nvPr/>
        </p:nvSpPr>
        <p:spPr>
          <a:xfrm>
            <a:off x="6947452" y="332816"/>
            <a:ext cx="3753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Kernel panic timeline analysis with </a:t>
            </a:r>
          </a:p>
          <a:p>
            <a:r>
              <a:rPr lang="en-US" altLang="ko-KR" dirty="0"/>
              <a:t>LLM-based natural language diagnosis</a:t>
            </a:r>
            <a:endParaRPr lang="ko-KR" altLang="en-US" dirty="0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09BE9AEE-A232-D894-29DF-B39609F877FF}"/>
              </a:ext>
            </a:extLst>
          </p:cNvPr>
          <p:cNvSpPr/>
          <p:nvPr/>
        </p:nvSpPr>
        <p:spPr>
          <a:xfrm>
            <a:off x="2333121" y="2067340"/>
            <a:ext cx="616226" cy="45719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B9553E54-350E-CDBE-C4DB-95BD37605944}"/>
              </a:ext>
            </a:extLst>
          </p:cNvPr>
          <p:cNvSpPr/>
          <p:nvPr/>
        </p:nvSpPr>
        <p:spPr>
          <a:xfrm>
            <a:off x="8567530" y="1222513"/>
            <a:ext cx="516835" cy="4972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905C91BE-69FF-87AE-5D7F-BA612FE5DA9A}"/>
                  </a:ext>
                </a:extLst>
              </p14:cNvPr>
              <p14:cNvContentPartPr/>
              <p14:nvPr/>
            </p14:nvContentPartPr>
            <p14:xfrm>
              <a:off x="4140683" y="3289552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905C91BE-69FF-87AE-5D7F-BA612FE5DA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7043" y="318191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74EABCF1-A04A-57AD-CC6A-B9E4BF48BB34}"/>
                  </a:ext>
                </a:extLst>
              </p14:cNvPr>
              <p14:cNvContentPartPr/>
              <p14:nvPr/>
            </p14:nvContentPartPr>
            <p14:xfrm>
              <a:off x="3479003" y="5265592"/>
              <a:ext cx="360" cy="3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74EABCF1-A04A-57AD-CC6A-B9E4BF48BB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25003" y="515759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F36EF8A4-0DD7-386D-8CFD-D8B6FAF5B4FC}"/>
                  </a:ext>
                </a:extLst>
              </p14:cNvPr>
              <p14:cNvContentPartPr/>
              <p14:nvPr/>
            </p14:nvContentPartPr>
            <p14:xfrm>
              <a:off x="935243" y="-1524368"/>
              <a:ext cx="360" cy="3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F36EF8A4-0DD7-386D-8CFD-D8B6FAF5B4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1243" y="-163236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36CA1E34-353B-9EB1-9A9F-EC75BE505949}"/>
                  </a:ext>
                </a:extLst>
              </p14:cNvPr>
              <p14:cNvContentPartPr/>
              <p14:nvPr/>
            </p14:nvContentPartPr>
            <p14:xfrm>
              <a:off x="1313603" y="-1209008"/>
              <a:ext cx="360" cy="1080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36CA1E34-353B-9EB1-9A9F-EC75BE50594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59603" y="-1316648"/>
                <a:ext cx="108000" cy="22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5423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Yu Gothic Light"/>
        <a:font script="Hang" typeface="맑은 고딕"/>
        <a:font script="Hans" typeface="DengXian Light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Yu Gothic"/>
        <a:font script="Hang" typeface="맑은 고딕"/>
        <a:font script="Hans" typeface="DengXia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620</Words>
  <Application>Microsoft Office PowerPoint</Application>
  <PresentationFormat>와이드스크린</PresentationFormat>
  <Paragraphs>138</Paragraphs>
  <Slides>10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Noto Sans CJK KR</vt:lpstr>
      <vt:lpstr>맑은 고딕</vt:lpstr>
      <vt:lpstr>Aptos</vt:lpstr>
      <vt:lpstr>Aptos Display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OpenAI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xv6 LLM 메모리 정책 Agent Pipeline</dc:title>
  <dc:subject>xv6 LLM memory agent pipeline</dc:subject>
  <dc:creator>OpenAI</dc:creator>
  <cp:lastModifiedBy>이 찬주</cp:lastModifiedBy>
  <cp:revision>42</cp:revision>
  <dcterms:created xsi:type="dcterms:W3CDTF">2026-06-07T10:03:49Z</dcterms:created>
  <dcterms:modified xsi:type="dcterms:W3CDTF">2026-06-10T01:57:12Z</dcterms:modified>
  <cp:version/>
</cp:coreProperties>
</file>